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1">
                <a:solidFill>
                  <a:srgbClr val="1CB8A6"/>
                </a:solidFill>
                <a:latin typeface="Aptos"/>
              </a:defRPr>
            </a:pPr>
            <a:r>
              <a:t>DBMS PROJECT • COMBINED REVIEWS 1–4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955279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3800" b="1">
                <a:solidFill>
                  <a:srgbClr val="F7F9FC"/>
                </a:solidFill>
                <a:latin typeface="Aptos"/>
              </a:defRPr>
            </a:pPr>
            <a:r>
              <a:t>SmartResearch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331720"/>
            <a:ext cx="73152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100" b="0">
                <a:solidFill>
                  <a:srgbClr val="68D2E0"/>
                </a:solidFill>
                <a:latin typeface="Aptos"/>
              </a:defRPr>
            </a:pPr>
            <a:r>
              <a:t>AI-Powered Semantic Knowledge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04088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DEE7F1"/>
                </a:solidFill>
                <a:latin typeface="Aptos"/>
              </a:defRPr>
            </a:pPr>
            <a:r>
              <a:t>Search less. Understand more.</a:t>
            </a:r>
            <a:br/>
            <a:r>
              <a:t>From project motivation to methodology, evaluation and final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663440"/>
            <a:ext cx="283464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773168"/>
            <a:ext cx="50292" cy="78638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773168"/>
            <a:ext cx="254203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5166359"/>
            <a:ext cx="2542032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Spoorthi • 2510030229</a:t>
            </a:r>
            <a:br/>
            <a:r>
              <a:t>Akshitha • 2510030284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4663440"/>
            <a:ext cx="246888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94760" y="4773168"/>
            <a:ext cx="50292" cy="78638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9352" y="4773168"/>
            <a:ext cx="21762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5166359"/>
            <a:ext cx="2176272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Dr. Sasidhar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72200"/>
            <a:ext cx="6400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0">
                <a:solidFill>
                  <a:srgbClr val="A5B5C9"/>
                </a:solidFill>
                <a:latin typeface="Aptos"/>
              </a:defRPr>
            </a:pPr>
            <a:r>
              <a:t>Department of Computer Science and Engineering • KLH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PRESENTATION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One continuous story across all four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Foundation → research gap → methodology → implementation evidence → conclusion.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606040" cy="18288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58568"/>
            <a:ext cx="50292" cy="160934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58568"/>
            <a:ext cx="231343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REVIEW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2313432" cy="12618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Problem, objectives and feasibility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48840"/>
            <a:ext cx="2606040" cy="18288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258568"/>
            <a:ext cx="50292" cy="1609344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258568"/>
            <a:ext cx="231343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651760"/>
            <a:ext cx="2313432" cy="12618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Literature review and research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148840"/>
            <a:ext cx="2606040" cy="18288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258568"/>
            <a:ext cx="50292" cy="160934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258568"/>
            <a:ext cx="231343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651760"/>
            <a:ext cx="2313432" cy="12618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Methodology, architecture and 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148840"/>
            <a:ext cx="2606040" cy="18288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2258568"/>
            <a:ext cx="50292" cy="16093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2258568"/>
            <a:ext cx="231343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REVIEW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2651760"/>
            <a:ext cx="2313432" cy="12618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Final workflow, demo and 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700" b="1">
                <a:solidFill>
                  <a:srgbClr val="F7F9FC"/>
                </a:solidFill>
                <a:latin typeface="Aptos"/>
              </a:defRPr>
            </a:pPr>
            <a:r>
              <a:t>The presentation moves from why the project is needed to how it works and what has been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Finding knowledge is harder than storing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Rapid growth in academic publications makes it difficult to identify relevant research efficiently.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74720" cy="18288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75688"/>
            <a:ext cx="50292" cy="160934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75688"/>
            <a:ext cx="31821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INFORMATION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68880"/>
            <a:ext cx="3182112" cy="12618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Research information is spread across papers, topics and repositories.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65960"/>
            <a:ext cx="3474720" cy="18288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75688"/>
            <a:ext cx="50292" cy="160934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075688"/>
            <a:ext cx="31821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KEYWORD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468880"/>
            <a:ext cx="3182112" cy="12618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Exact-word matching can miss conceptually related papers that use different terminology.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965960"/>
            <a:ext cx="3429000" cy="18288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2075688"/>
            <a:ext cx="50292" cy="16093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075688"/>
            <a:ext cx="31363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MANUAL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468880"/>
            <a:ext cx="3136392" cy="12618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Researchers spend time reviewing, comparing and organizing large volumes of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33272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100" b="1">
                <a:solidFill>
                  <a:srgbClr val="68D2E0"/>
                </a:solidFill>
                <a:latin typeface="Aptos"/>
              </a:defRPr>
            </a:pPr>
            <a:r>
              <a:t>Goal: discover relevant knowledge by meaning—not only by exact keywords.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Objectives, users and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A centralized research workflow for students, researchers and academic staff.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57800" cy="32004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0292" cy="298094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49651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1">
                <a:solidFill>
                  <a:srgbClr val="F7F9F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4965192" cy="2633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0">
                <a:solidFill>
                  <a:srgbClr val="DEE7F1"/>
                </a:solidFill>
                <a:latin typeface="Aptos"/>
              </a:defRPr>
            </a:pPr>
            <a:r>
              <a:t>• Centralize research-paper management</a:t>
            </a:r>
            <a:br/>
            <a:r>
              <a:t>• Secure REST APIs and authentication</a:t>
            </a:r>
            <a:br/>
            <a:r>
              <a:t>• Extract PDF text and metadata</a:t>
            </a:r>
            <a:br/>
            <a:r>
              <a:t>• Generate embeddings and retrieve relevant papers</a:t>
            </a:r>
            <a:br/>
            <a:r>
              <a:t>• Support a simple web-based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29968"/>
            <a:ext cx="50292" cy="694944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2996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23160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Python • FastAPI • PostgreSQL • MongoDB • pgvector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521208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72968"/>
            <a:ext cx="50292" cy="69494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17296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OPERATIONAL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566160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A straightforward interface for academic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06240"/>
            <a:ext cx="521208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315968"/>
            <a:ext cx="50292" cy="694944"/>
          </a:xfrm>
          <a:prstGeom prst="rect">
            <a:avLst/>
          </a:prstGeom>
          <a:solidFill>
            <a:srgbClr val="6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31596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ECONOMIC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9159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Uses open-source software to reduce development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2 • RESEARCH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Literature review: foundations for semantic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Prior work informs contextual language representation, sentence embeddings and dense retrieval.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12080" cy="93268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84248"/>
            <a:ext cx="50292" cy="713232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BERT • Devlin et al. (2019)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77439"/>
            <a:ext cx="4919472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0">
                <a:solidFill>
                  <a:srgbClr val="DEE7F1"/>
                </a:solidFill>
                <a:latin typeface="Aptos"/>
              </a:defRPr>
            </a:pPr>
            <a:r>
              <a:t>Contextual language representation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74519"/>
            <a:ext cx="5212080" cy="93268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984248"/>
            <a:ext cx="50292" cy="713232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8424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Sentence-BERT • Reimers &amp; Gurevych (2019)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77439"/>
            <a:ext cx="4919472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0">
                <a:solidFill>
                  <a:srgbClr val="DEE7F1"/>
                </a:solidFill>
                <a:latin typeface="Aptos"/>
              </a:defRPr>
            </a:pPr>
            <a:r>
              <a:t>Efficient sentence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5212080" cy="93268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27248"/>
            <a:ext cx="50292" cy="713232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2724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SciBERT • Beltagy, Lo &amp; Cohan (2019)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520439"/>
            <a:ext cx="4919472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0">
                <a:solidFill>
                  <a:srgbClr val="DEE7F1"/>
                </a:solidFill>
                <a:latin typeface="Aptos"/>
              </a:defRPr>
            </a:pPr>
            <a:r>
              <a:t>Scientific-text language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017520"/>
            <a:ext cx="5212080" cy="93268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127248"/>
            <a:ext cx="50292" cy="713232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12724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Dense Passage Retrieval • Karpukhin et al. (2020)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520439"/>
            <a:ext cx="4919472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0">
                <a:solidFill>
                  <a:srgbClr val="DEE7F1"/>
                </a:solidFill>
                <a:latin typeface="Aptos"/>
              </a:defRPr>
            </a:pPr>
            <a:r>
              <a:t>Vector-based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5212080" cy="93268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70248"/>
            <a:ext cx="50292" cy="713232"/>
          </a:xfrm>
          <a:prstGeom prst="rect">
            <a:avLst/>
          </a:prstGeom>
          <a:solidFill>
            <a:srgbClr val="6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27024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SPECTER • Cohan et al. (2020)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663440"/>
            <a:ext cx="4919472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0">
                <a:solidFill>
                  <a:srgbClr val="DEE7F1"/>
                </a:solidFill>
                <a:latin typeface="Aptos"/>
              </a:defRPr>
            </a:pPr>
            <a:r>
              <a:t>Scientific-paper representation using citations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160520"/>
            <a:ext cx="5212080" cy="93268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270248"/>
            <a:ext cx="50292" cy="713232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270248"/>
            <a:ext cx="49194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ColBERT • Khattab &amp; Zaharia (2020)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663440"/>
            <a:ext cx="4919472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0">
                <a:solidFill>
                  <a:srgbClr val="DEE7F1"/>
                </a:solidFill>
                <a:latin typeface="Aptos"/>
              </a:defRPr>
            </a:pPr>
            <a:r>
              <a:t>Late-interaction contextual retrieval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These studies provide technical building blocks; the proposed project integrates them into a research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2 • RESEARCH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Research gap and proposed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The opportunity is integration—not claiming that semantic search itself is new.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37560" cy="210312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21408"/>
            <a:ext cx="50292" cy="1883663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21408"/>
            <a:ext cx="30449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EXISTING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14600"/>
            <a:ext cx="3044952" cy="153619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Semantic representation</a:t>
            </a:r>
            <a:br/>
            <a:r>
              <a:t>Dense retrieval</a:t>
            </a:r>
            <a:br/>
            <a:r>
              <a:t>Scientific-paper embeddings</a:t>
            </a:r>
            <a:br/>
            <a:r>
              <a:t>Academic repositories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337560" cy="210312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121408"/>
            <a:ext cx="50292" cy="1883663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2121408"/>
            <a:ext cx="30449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OBSERVED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514600"/>
            <a:ext cx="3044952" cy="153619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Search, repository management, metadata and vector indexing may be handled separately.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291840" cy="210312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21408"/>
            <a:ext cx="50292" cy="1883663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121408"/>
            <a:ext cx="299923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14600"/>
            <a:ext cx="2999232" cy="153619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Integrate paper management, structured metadata and meaning-based retrieval in one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24128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700" b="1">
                <a:solidFill>
                  <a:srgbClr val="F7F9FC"/>
                </a:solidFill>
                <a:latin typeface="Aptos"/>
              </a:defRPr>
            </a:pPr>
            <a:r>
              <a:t>SmartResearch Hub applies established technologies to academic discovery and paper organization.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2 →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Proposed solution: an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Paper processing and storage prepare research content for semantic retrieval.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560320" cy="1078992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21408"/>
            <a:ext cx="50292" cy="859536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21408"/>
            <a:ext cx="22677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1  Register / log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340864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68D2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560320" cy="1078992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121408"/>
            <a:ext cx="50292" cy="859536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121408"/>
            <a:ext cx="22677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2  Upload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340864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68D2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011680"/>
            <a:ext cx="2560320" cy="1078992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121408"/>
            <a:ext cx="50292" cy="859536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121408"/>
            <a:ext cx="22677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3  Extract text &amp; 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340864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68D2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011680"/>
            <a:ext cx="2560320" cy="1078992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2121408"/>
            <a:ext cx="50292" cy="859536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2121408"/>
            <a:ext cx="22677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4  Clean and chunk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74720"/>
            <a:ext cx="2560320" cy="1078992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584448"/>
            <a:ext cx="50292" cy="859536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584448"/>
            <a:ext cx="22677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5  Generate embeddings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3803904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68D2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474720"/>
            <a:ext cx="2560320" cy="1078992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3584448"/>
            <a:ext cx="50292" cy="859536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0752" y="3584448"/>
            <a:ext cx="22677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6  Store data by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3803904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68D2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474720"/>
            <a:ext cx="2560320" cy="1078992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3584448"/>
            <a:ext cx="50292" cy="859536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3584448"/>
            <a:ext cx="22677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7  Embed query and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8" y="3803904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68D2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474720"/>
            <a:ext cx="2560320" cy="1078992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80" y="3584448"/>
            <a:ext cx="50292" cy="859536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1472" y="3584448"/>
            <a:ext cx="226771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8  Rank and display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500" b="1">
                <a:solidFill>
                  <a:srgbClr val="DEE7F1"/>
                </a:solidFill>
                <a:latin typeface="Aptos"/>
              </a:defRPr>
            </a:pPr>
            <a:r>
              <a:t>Output: relevant papers and content surfaced for a natural-language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System architecture and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The user interface connects to the API layer, data stores and semantic retrieval engine.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51460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75688"/>
            <a:ext cx="50292" cy="78638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75688"/>
            <a:ext cx="22219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68880"/>
            <a:ext cx="2221992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04288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F7F9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965960"/>
            <a:ext cx="251460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075688"/>
            <a:ext cx="50292" cy="786384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1" y="2075688"/>
            <a:ext cx="22219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API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2468880"/>
            <a:ext cx="2221992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Python •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04288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F7F9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65960"/>
            <a:ext cx="251460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075688"/>
            <a:ext cx="50292" cy="78638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075688"/>
            <a:ext cx="22219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468880"/>
            <a:ext cx="2221992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Metadata • documents •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304288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F7F9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1965960"/>
            <a:ext cx="251460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59" y="2075688"/>
            <a:ext cx="50292" cy="78638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1" y="2075688"/>
            <a:ext cx="22219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1" y="2468880"/>
            <a:ext cx="2221992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Embedding • similarity • ranking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03320"/>
            <a:ext cx="3108960" cy="118872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813048"/>
            <a:ext cx="50292" cy="96926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3813048"/>
            <a:ext cx="28163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206240"/>
            <a:ext cx="2816352" cy="6217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Structured information and metadata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703320"/>
            <a:ext cx="3108960" cy="118872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80" y="3813048"/>
            <a:ext cx="50292" cy="969264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3813048"/>
            <a:ext cx="28163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4206240"/>
            <a:ext cx="2816352" cy="6217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Document-oriented research content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703320"/>
            <a:ext cx="3108960" cy="118872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813048"/>
            <a:ext cx="50292" cy="96926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3813048"/>
            <a:ext cx="28163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PGVECTOR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206240"/>
            <a:ext cx="2816352" cy="6217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Embedding storage and vector similarity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A5B5C9"/>
                </a:solidFill>
                <a:latin typeface="Aptos"/>
              </a:defRPr>
            </a:pPr>
            <a:r>
              <a:t>Kafka is also described in the final-review architecture for background processing; verify its status in the runnable 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Why multiple data stores?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Different data shapes and workloads motivate different storage responsibilities.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383280" cy="201168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58568"/>
            <a:ext cx="50292" cy="179222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30906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F7F9FC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51760"/>
            <a:ext cx="3090672" cy="14447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0">
                <a:solidFill>
                  <a:srgbClr val="DEE7F1"/>
                </a:solidFill>
                <a:latin typeface="Aptos"/>
              </a:defRPr>
            </a:pPr>
            <a:r>
              <a:t>• Users and authentication</a:t>
            </a:r>
            <a:br/>
            <a:r>
              <a:t>• Relational information</a:t>
            </a:r>
            <a:br/>
            <a:r>
              <a:t>• Paper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383280" cy="201168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258568"/>
            <a:ext cx="50292" cy="1792224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258568"/>
            <a:ext cx="30906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F7F9FC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651760"/>
            <a:ext cx="3090672" cy="14447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0">
                <a:solidFill>
                  <a:srgbClr val="DEE7F1"/>
                </a:solidFill>
                <a:latin typeface="Aptos"/>
              </a:defRPr>
            </a:pPr>
            <a:r>
              <a:t>• Research-paper documents</a:t>
            </a:r>
            <a:br/>
            <a:r>
              <a:t>• Flexible document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48840"/>
            <a:ext cx="3383280" cy="201168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258568"/>
            <a:ext cx="50292" cy="179222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2258568"/>
            <a:ext cx="30906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1">
                <a:solidFill>
                  <a:srgbClr val="F7F9FC"/>
                </a:solidFill>
                <a:latin typeface="Aptos"/>
              </a:defRPr>
            </a:pPr>
            <a:r>
              <a:t>PGVECTOR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651760"/>
            <a:ext cx="3090672" cy="14447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0">
                <a:solidFill>
                  <a:srgbClr val="DEE7F1"/>
                </a:solidFill>
                <a:latin typeface="Aptos"/>
              </a:defRPr>
            </a:pPr>
            <a:r>
              <a:t>• Numerical embeddings</a:t>
            </a:r>
            <a:br/>
            <a:r>
              <a:t>• Vector similarity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24128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700" b="1">
                <a:solidFill>
                  <a:srgbClr val="F7F9FC"/>
                </a:solidFill>
                <a:latin typeface="Aptos"/>
              </a:defRPr>
            </a:pPr>
            <a:r>
              <a:t>Design principle: choose storage and processing according to the data and query.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From PDF to searchable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The processing pipeline turns documents into retrievable semantic chunks.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084831" cy="16002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50292" cy="138074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58568"/>
            <a:ext cx="1792223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51760"/>
            <a:ext cx="1792223" cy="103327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PDF upload</a:t>
            </a:r>
            <a:br/>
            <a:r>
              <a:t>Text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61488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F7F9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148840"/>
            <a:ext cx="2084831" cy="16002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2072" y="2258568"/>
            <a:ext cx="50292" cy="1380744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258568"/>
            <a:ext cx="1792223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651760"/>
            <a:ext cx="1792223" cy="103327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Cleaning</a:t>
            </a:r>
            <a:br/>
            <a:r>
              <a:t>Chunking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761488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F7F9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2148840"/>
            <a:ext cx="2084831" cy="16002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21224" y="2258568"/>
            <a:ext cx="50292" cy="138074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5816" y="2258568"/>
            <a:ext cx="1792223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REPRESENT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2651760"/>
            <a:ext cx="1792223" cy="103327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Embedding generation</a:t>
            </a:r>
            <a:br/>
            <a:r>
              <a:t>Vector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2761488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F7F9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0376" y="2148840"/>
            <a:ext cx="2084831" cy="16002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0376" y="2258568"/>
            <a:ext cx="50292" cy="13807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8" y="2258568"/>
            <a:ext cx="1792223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651760"/>
            <a:ext cx="1792223" cy="103327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Query embedding</a:t>
            </a:r>
            <a:br/>
            <a:r>
              <a:t>Similarity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7776" y="2761488"/>
            <a:ext cx="3200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800" b="1">
                <a:solidFill>
                  <a:srgbClr val="F7F9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9528" y="2148840"/>
            <a:ext cx="2084831" cy="16002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258568"/>
            <a:ext cx="50292" cy="1380744"/>
          </a:xfrm>
          <a:prstGeom prst="rect">
            <a:avLst/>
          </a:prstGeom>
          <a:solidFill>
            <a:srgbClr val="6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2258568"/>
            <a:ext cx="1792223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2651760"/>
            <a:ext cx="1792223" cy="103327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Ranked papers</a:t>
            </a:r>
            <a:br/>
            <a:r>
              <a:t>Relevant 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389120"/>
            <a:ext cx="333756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498848"/>
            <a:ext cx="50292" cy="69494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498848"/>
            <a:ext cx="30449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WHY CHUNKS?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4892040"/>
            <a:ext cx="30449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Help keep retrieval more precise.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4389120"/>
            <a:ext cx="333756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4498848"/>
            <a:ext cx="50292" cy="694944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1" y="4498848"/>
            <a:ext cx="30449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WHY EMBEDDINGS?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1" y="4892040"/>
            <a:ext cx="30449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Represent text meaning numerically.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389120"/>
            <a:ext cx="333756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4498848"/>
            <a:ext cx="50292" cy="69494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498848"/>
            <a:ext cx="30449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t>WHY RETRIEVAL?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4892040"/>
            <a:ext cx="304495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Use relevant context for an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4 • FINAL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Semantic search and AI-assisted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Meaning-based retrieval finds relevant chunks; RAG uses them as context for answer generation.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13716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21408"/>
            <a:ext cx="50292" cy="1152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21408"/>
            <a:ext cx="30906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KEYWORD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14600"/>
            <a:ext cx="3090672" cy="8046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Exact terms can miss related wording.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383280" cy="13716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21408"/>
            <a:ext cx="50292" cy="1152144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121408"/>
            <a:ext cx="30906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SEMANTIC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14600"/>
            <a:ext cx="3090672" cy="8046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Query embedding → vector similarity → ranked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137160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21408"/>
            <a:ext cx="50292" cy="115214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121408"/>
            <a:ext cx="309067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RAG QUESTION ANSWERING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14600"/>
            <a:ext cx="3090672" cy="8046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Question → retrieve chunks → use context → generate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241280" cy="777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700" b="1">
                <a:solidFill>
                  <a:srgbClr val="F7F9FC"/>
                </a:solidFill>
                <a:latin typeface="Aptos"/>
              </a:defRPr>
            </a:pPr>
            <a:r>
              <a:t>Example: “How do neural networks learn?” can be related to “What is the training process for deep learning models?”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100584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200" b="0">
                <a:solidFill>
                  <a:srgbClr val="A5B5C9"/>
                </a:solidFill>
                <a:latin typeface="Aptos"/>
              </a:defRPr>
            </a:pPr>
            <a:r>
              <a:t>Cosine similarity measures vector direction; it should not automatically be presented as a percentage.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3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Prototype evidence reported in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These values are reported for one tested sample PDF and query.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CB8A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32004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DEE7F1"/>
                </a:solidFill>
                <a:latin typeface="Aptos"/>
              </a:defRPr>
            </a:pPr>
            <a:r>
              <a:t>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011680"/>
            <a:ext cx="338328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68D2E0"/>
                </a:solidFill>
                <a:latin typeface="Aptos"/>
              </a:defRPr>
            </a:pPr>
            <a:r>
              <a:t>26,356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78608"/>
            <a:ext cx="32004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DEE7F1"/>
                </a:solidFill>
                <a:latin typeface="Aptos"/>
              </a:defRPr>
            </a:pPr>
            <a:r>
              <a:t>characters extracted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011680"/>
            <a:ext cx="338328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CB8A6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78608"/>
            <a:ext cx="32004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DEE7F1"/>
                </a:solidFill>
                <a:latin typeface="Aptos"/>
              </a:defRPr>
            </a:pPr>
            <a:r>
              <a:t>text 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338328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68D2E0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32004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DEE7F1"/>
                </a:solidFill>
                <a:latin typeface="Aptos"/>
              </a:defRPr>
            </a:pPr>
            <a:r>
              <a:t>chunk size (characters)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291840"/>
            <a:ext cx="338328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38328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CB8A6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58768"/>
            <a:ext cx="32004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DEE7F1"/>
                </a:solidFill>
                <a:latin typeface="Aptos"/>
              </a:defRPr>
            </a:pPr>
            <a:r>
              <a:t>character overlap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291840"/>
            <a:ext cx="3383280" cy="10058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38328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68D2E0"/>
                </a:solidFill>
                <a:latin typeface="Aptos"/>
              </a:defRPr>
            </a:pPr>
            <a:r>
              <a:t>384-D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58768"/>
            <a:ext cx="32004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DEE7F1"/>
                </a:solidFill>
                <a:latin typeface="Aptos"/>
              </a:defRPr>
            </a:pPr>
            <a:r>
              <a:t>embedding 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1024128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200" b="0">
                <a:solidFill>
                  <a:srgbClr val="A5B5C9"/>
                </a:solidFill>
                <a:latin typeface="Aptos"/>
              </a:defRPr>
            </a:pPr>
            <a:r>
              <a:t>Observed cosine similarity for the tested paper/query pair: 0.4904. It is not a percentage relevance score.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EVALUATION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What is validated—and what must be checked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Keep prototype evidence separate from features that need end-to-end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257800" cy="23774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75688"/>
            <a:ext cx="50292" cy="2157984"/>
          </a:xfrm>
          <a:prstGeom prst="rect">
            <a:avLst/>
          </a:prstGeom>
          <a:solidFill>
            <a:srgbClr val="6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49651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REPORTED AS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4965192" cy="1810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• PDF text extraction</a:t>
            </a:r>
            <a:br/>
            <a:r>
              <a:t>• Metadata identification</a:t>
            </a:r>
            <a:br/>
            <a:r>
              <a:t>• 384-D embedding generation</a:t>
            </a:r>
            <a:br/>
            <a:r>
              <a:t>• Query embedding and similarity calculation</a:t>
            </a:r>
            <a:br/>
            <a:r>
              <a:t>• Empty-query validation demonstration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57800" cy="237744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75688"/>
            <a:ext cx="50292" cy="215798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75688"/>
            <a:ext cx="49651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1">
                <a:solidFill>
                  <a:srgbClr val="F7F9FC"/>
                </a:solidFill>
                <a:latin typeface="Aptos"/>
              </a:defRPr>
            </a:pPr>
            <a:r>
              <a:t>VERIFY IN THE CURRENT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68880"/>
            <a:ext cx="4965192" cy="1810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DEE7F1"/>
                </a:solidFill>
                <a:latin typeface="Aptos"/>
              </a:defRPr>
            </a:pPr>
            <a:r>
              <a:t>• PostgreSQL/pgvector end-to-end integration</a:t>
            </a:r>
            <a:br/>
            <a:r>
              <a:t>• MongoDB persistence</a:t>
            </a:r>
            <a:br/>
            <a:r>
              <a:t>• Multi-paper ranking and benchmarking</a:t>
            </a:r>
            <a:br/>
            <a:r>
              <a:t>• Response-time measurements</a:t>
            </a:r>
            <a:br/>
            <a:r>
              <a:t>• Kafka/background processing, if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241280" cy="685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A5B5C9"/>
                </a:solidFill>
                <a:latin typeface="Aptos"/>
              </a:defRPr>
            </a:pPr>
            <a:r>
              <a:t>Review 3 explicitly describes some results as prototype evidence and says database integration and multi-paper benchmarking remain next-stage work. Confirm the current code before claiming completion.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REVIEW 4 • FINAL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User experience and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The final-review workflow connects research tasks through one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429000" cy="102412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50292" cy="804672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29968"/>
            <a:ext cx="31363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23160"/>
            <a:ext cx="3136392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JWT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20240"/>
            <a:ext cx="3429000" cy="102412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029968"/>
            <a:ext cx="50292" cy="804672"/>
          </a:xfrm>
          <a:prstGeom prst="rect">
            <a:avLst/>
          </a:prstGeom>
          <a:solidFill>
            <a:srgbClr val="68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29968"/>
            <a:ext cx="31363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423160"/>
            <a:ext cx="3136392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Repository and papers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920240"/>
            <a:ext cx="3429000" cy="102412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2029968"/>
            <a:ext cx="50292" cy="804672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029968"/>
            <a:ext cx="31363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423160"/>
            <a:ext cx="3136392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Authenticated PDF upload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46120"/>
            <a:ext cx="3429000" cy="102412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355848"/>
            <a:ext cx="50292" cy="804672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355848"/>
            <a:ext cx="31363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749039"/>
            <a:ext cx="3136392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Natural-language semantic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246120"/>
            <a:ext cx="3429000" cy="102412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355848"/>
            <a:ext cx="50292" cy="804672"/>
          </a:xfrm>
          <a:prstGeom prst="rect">
            <a:avLst/>
          </a:prstGeom>
          <a:solidFill>
            <a:srgbClr val="6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355848"/>
            <a:ext cx="31363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749039"/>
            <a:ext cx="3136392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Question answering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246120"/>
            <a:ext cx="3429000" cy="1024128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355848"/>
            <a:ext cx="50292" cy="804672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3355848"/>
            <a:ext cx="3136392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400" b="1">
                <a:solidFill>
                  <a:srgbClr val="F7F9FC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3749039"/>
            <a:ext cx="3136392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DEE7F1"/>
                </a:solidFill>
                <a:latin typeface="Aptos"/>
              </a:defRPr>
            </a:pPr>
            <a:r>
              <a:t>PDF viewing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300" b="1">
                <a:solidFill>
                  <a:srgbClr val="F7F9FC"/>
                </a:solidFill>
                <a:latin typeface="Aptos"/>
              </a:defRPr>
            </a:pPr>
            <a:r>
              <a:t>Demo: log in → open repository → search → inspect results → open a paper → ask a question → upload a paper.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000" b="1">
                <a:solidFill>
                  <a:srgbClr val="1CB8A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t>What SmartResearch Hub brings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A5B5C9"/>
                </a:solidFill>
                <a:latin typeface="Aptos"/>
              </a:defRPr>
            </a:pPr>
            <a:r>
              <a:t>A research-paper workflow combining database design and meaning-based discovery.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41148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900" b="1">
                <a:solidFill>
                  <a:srgbClr val="A5B5C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5120640" cy="242316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21408"/>
            <a:ext cx="50292" cy="2203704"/>
          </a:xfrm>
          <a:prstGeom prst="rect">
            <a:avLst/>
          </a:prstGeom>
          <a:solidFill>
            <a:srgbClr val="1C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21408"/>
            <a:ext cx="4828031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1">
                <a:solidFill>
                  <a:srgbClr val="F7F9FC"/>
                </a:solidFill>
                <a:latin typeface="Aptos"/>
              </a:defRPr>
            </a:pPr>
            <a:r>
              <a:t>PROJECT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14600"/>
            <a:ext cx="4828031" cy="18562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• Centralized research repository</a:t>
            </a:r>
            <a:br/>
            <a:r>
              <a:t>• PDF processing and metadata extraction</a:t>
            </a:r>
            <a:br/>
            <a:r>
              <a:t>• Semantic embeddings and similarity retrieval</a:t>
            </a:r>
            <a:br/>
            <a:r>
              <a:t>• Hybrid data-store design</a:t>
            </a:r>
            <a:br/>
            <a:r>
              <a:t>• Search and Q&amp;A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120640" cy="2423160"/>
          </a:xfrm>
          <a:prstGeom prst="roundRect">
            <a:avLst/>
          </a:prstGeom>
          <a:solidFill>
            <a:srgbClr val="192A46"/>
          </a:solidFill>
          <a:ln>
            <a:solidFill>
              <a:srgbClr val="30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21408"/>
            <a:ext cx="50292" cy="220370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21408"/>
            <a:ext cx="4828031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1">
                <a:solidFill>
                  <a:srgbClr val="F7F9FC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514600"/>
            <a:ext cx="4828031" cy="18562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DEE7F1"/>
                </a:solidFill>
                <a:latin typeface="Aptos"/>
              </a:defRPr>
            </a:pPr>
            <a:r>
              <a:t>• Better citation generation</a:t>
            </a:r>
            <a:br/>
            <a:r>
              <a:t>• Advanced RAG and ranking</a:t>
            </a:r>
            <a:br/>
            <a:r>
              <a:t>• Research recommendations</a:t>
            </a:r>
            <a:br/>
            <a:r>
              <a:t>• Research trend analysis</a:t>
            </a:r>
            <a:br/>
            <a:r>
              <a:t>• Multi-document comparison</a:t>
            </a:r>
            <a:br/>
            <a:r>
              <a:t>• Cloud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900" b="1">
                <a:solidFill>
                  <a:srgbClr val="F7F9FC"/>
                </a:solidFill>
                <a:latin typeface="Aptos"/>
              </a:defRPr>
            </a:pPr>
            <a:r>
              <a:t>SmartResearch Hub turns research papers into a searchable knowledge system.</a:t>
            </a:r>
            <a:br/>
            <a:r>
              <a:t>Thank you 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